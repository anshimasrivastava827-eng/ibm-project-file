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comments/comment1.xml" ContentType="application/vnd.openxmlformats-officedocument.presentationml.comments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78" r:id="rId5"/>
    <p:sldId id="256" r:id="rId6"/>
    <p:sldId id="25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1" clrIdx="0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19" autoAdjust="0"/>
  </p:normalViewPr>
  <p:slideViewPr>
    <p:cSldViewPr snapToGrid="0">
      <p:cViewPr varScale="1">
        <p:scale>
          <a:sx n="95" d="100"/>
          <a:sy n="95" d="100"/>
        </p:scale>
        <p:origin x="67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03T21:02:39.129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4.png"/><Relationship Id="rId5" Type="http://schemas.openxmlformats.org/officeDocument/2006/relationships/image" Target="../media/image33.jpe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28326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TELECOM CHURN </a:t>
            </a:r>
            <a:br>
              <a:rPr lang="en-US" sz="4000" dirty="0"/>
            </a:br>
            <a:r>
              <a:rPr lang="en-US" sz="4000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883A-E562-8F5C-A600-1C43A4C2E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6145" y="1399032"/>
            <a:ext cx="9966960" cy="3035808"/>
          </a:xfrm>
        </p:spPr>
        <p:txBody>
          <a:bodyPr/>
          <a:lstStyle/>
          <a:p>
            <a:r>
              <a:rPr lang="en-US" sz="8800" dirty="0"/>
              <a:t>EXPLORATORY DATA ANALYSIS</a:t>
            </a:r>
            <a:endParaRPr lang="en-IN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BD454-5A9F-FC57-B87C-2E281DFBD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3266482" cy="1389511"/>
          </a:xfrm>
        </p:spPr>
        <p:txBody>
          <a:bodyPr>
            <a:normAutofit fontScale="92500" lnSpcReduction="20000"/>
          </a:bodyPr>
          <a:lstStyle/>
          <a:p>
            <a:r>
              <a:rPr lang="en-US" u="sng" dirty="0"/>
              <a:t>PRESENTED BY :</a:t>
            </a:r>
          </a:p>
          <a:p>
            <a:r>
              <a:rPr lang="en-US" u="sng" dirty="0"/>
              <a:t>ANSHIMA SRIVASTAVA</a:t>
            </a:r>
          </a:p>
          <a:p>
            <a:r>
              <a:rPr lang="en-IN" dirty="0"/>
              <a:t>UU-ID = UU252000011</a:t>
            </a:r>
          </a:p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1326EA4-FAF4-9FDF-6486-1368144AAE13}"/>
              </a:ext>
            </a:extLst>
          </p:cNvPr>
          <p:cNvSpPr txBox="1">
            <a:spLocks/>
          </p:cNvSpPr>
          <p:nvPr/>
        </p:nvSpPr>
        <p:spPr>
          <a:xfrm>
            <a:off x="6350430" y="4366496"/>
            <a:ext cx="3849372" cy="1909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/>
              <a:t>SUBMITTED TO :</a:t>
            </a:r>
          </a:p>
          <a:p>
            <a:r>
              <a:rPr lang="en-US" dirty="0"/>
              <a:t>SAMARTH AMRUTE</a:t>
            </a:r>
          </a:p>
          <a:p>
            <a:endParaRPr lang="en-IN" dirty="0"/>
          </a:p>
          <a:p>
            <a:r>
              <a:rPr lang="en-US" dirty="0">
                <a:solidFill>
                  <a:schemeClr val="accent2"/>
                </a:solidFill>
              </a:rPr>
              <a:t>United University, Prayagraj</a:t>
            </a:r>
            <a:endParaRPr lang="en-IN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618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C5AC9-4A73-0BBA-C0C2-EC4AD33EF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23" y="239535"/>
            <a:ext cx="10058400" cy="1609344"/>
          </a:xfrm>
        </p:spPr>
        <p:txBody>
          <a:bodyPr/>
          <a:lstStyle/>
          <a:p>
            <a:r>
              <a:rPr lang="en-US" u="sng" dirty="0"/>
              <a:t>IMPORTING LIBRARIES AND READING CSV FILE</a:t>
            </a:r>
            <a:endParaRPr lang="en-IN" u="sn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D13E9A2-CEEF-02A4-7660-D10EC0ED5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72" y="3841376"/>
            <a:ext cx="10591108" cy="2599441"/>
          </a:xfrm>
        </p:spPr>
        <p:txBody>
          <a:bodyPr>
            <a:normAutofit/>
          </a:bodyPr>
          <a:lstStyle/>
          <a:p>
            <a:r>
              <a:rPr lang="en-US" sz="2800" dirty="0"/>
              <a:t>Here we are importing some important libraries : NumPy, Pandas, Matplotlib.pyplot, Seaborn.</a:t>
            </a:r>
          </a:p>
          <a:p>
            <a:r>
              <a:rPr lang="en-US" sz="2800" dirty="0"/>
              <a:t>Also we are reading the csv file using the "read_csv()" and converting it into a Dataframe "df"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9AC3F1-A40A-8A3C-2655-896B7B433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84" y="1764632"/>
            <a:ext cx="9264316" cy="187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023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05520-F10C-6C93-E81B-812B2B7FF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-19050"/>
            <a:ext cx="10353762" cy="957513"/>
          </a:xfrm>
        </p:spPr>
        <p:txBody>
          <a:bodyPr/>
          <a:lstStyle/>
          <a:p>
            <a:r>
              <a:rPr lang="en-US" u="sng" dirty="0"/>
              <a:t>BASIC OVERVIEW OF DATASET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4A675D-BDAA-939C-2243-C89C51467F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48" y="746080"/>
            <a:ext cx="8133347" cy="315893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9EA861-9017-8AA5-0A72-B7D8ACB23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191" y="746080"/>
            <a:ext cx="3469003" cy="46867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A28500-3EF0-D216-76E7-E7C2513E5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073" y="3798196"/>
            <a:ext cx="4467727" cy="296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192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5CF02C-397D-5955-B036-4FA2DB57E8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4779" y="1504878"/>
            <a:ext cx="3797647" cy="523280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653D42-F86A-4E70-25A2-A712709FA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16" y="304801"/>
            <a:ext cx="10026316" cy="114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00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9A30D-F47C-5A8C-E9B4-41710BE6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457200"/>
            <a:ext cx="10353762" cy="1909011"/>
          </a:xfrm>
        </p:spPr>
        <p:txBody>
          <a:bodyPr>
            <a:normAutofit/>
          </a:bodyPr>
          <a:lstStyle/>
          <a:p>
            <a:r>
              <a:rPr lang="en-GB" sz="7200" u="sng" dirty="0"/>
              <a:t>Check the NULL values</a:t>
            </a:r>
            <a:endParaRPr lang="en-IN" sz="72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EDF4B-F390-D70F-A087-ED42EC8F8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34716"/>
            <a:ext cx="10353762" cy="445720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1DEE9-E26F-C86D-F1E4-534E4E345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95" y="1034716"/>
            <a:ext cx="10747680" cy="44572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667986-070C-226E-88F2-790BBC9B9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143" y="5557526"/>
            <a:ext cx="8939921" cy="119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067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375D-75C7-CEB5-F81E-51A4DFAD8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529389"/>
            <a:ext cx="10353762" cy="1748589"/>
          </a:xfrm>
        </p:spPr>
        <p:txBody>
          <a:bodyPr>
            <a:normAutofit/>
          </a:bodyPr>
          <a:lstStyle/>
          <a:p>
            <a:r>
              <a:rPr lang="en-GB" sz="4400" b="1" u="sng" dirty="0"/>
              <a:t>Check the statistical summary of the dataset</a:t>
            </a:r>
            <a:endParaRPr lang="en-IN" sz="4400" b="1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6B6014-5864-7D44-DE99-62D33985E1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0779" y="827831"/>
            <a:ext cx="8847221" cy="5865171"/>
          </a:xfrm>
        </p:spPr>
      </p:pic>
    </p:spTree>
    <p:extLst>
      <p:ext uri="{BB962C8B-B14F-4D97-AF65-F5344CB8AC3E}">
        <p14:creationId xmlns:p14="http://schemas.microsoft.com/office/powerpoint/2010/main" val="2038804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C9CB-7A29-EB7B-C1BC-5B234D686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611" y="0"/>
            <a:ext cx="9841831" cy="1443789"/>
          </a:xfrm>
        </p:spPr>
        <p:txBody>
          <a:bodyPr>
            <a:normAutofit fontScale="90000"/>
          </a:bodyPr>
          <a:lstStyle/>
          <a:p>
            <a:r>
              <a:rPr lang="en-GB" sz="5400" b="1" u="sng" dirty="0"/>
              <a:t>Check the duplicate value of the dataset</a:t>
            </a:r>
            <a:endParaRPr lang="en-IN" sz="5400" b="1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8DAD92-CD89-7FFA-7E9C-3D0C3CB3E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116" y="1859445"/>
            <a:ext cx="3288421" cy="374727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D60736-940F-63BE-3691-8EE438F45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681" y="1987782"/>
            <a:ext cx="5509402" cy="12714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EA7CC6-AD92-F924-F796-9F89A46F1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955" y="3731936"/>
            <a:ext cx="10857811" cy="156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599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22660-97EF-85B7-DC2A-DC5E97412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647" y="1756612"/>
            <a:ext cx="10353762" cy="1892968"/>
          </a:xfrm>
        </p:spPr>
        <p:txBody>
          <a:bodyPr>
            <a:normAutofit fontScale="90000"/>
          </a:bodyPr>
          <a:lstStyle/>
          <a:p>
            <a:r>
              <a:rPr lang="en-GB" b="1" u="sng" dirty="0">
                <a:effectLst/>
              </a:rPr>
              <a:t>Converted 0 and 1 values of senior citizen to yes/no to make it easier to understand</a:t>
            </a:r>
            <a:br>
              <a:rPr lang="en-GB" dirty="0">
                <a:effectLst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AA1644-DD00-5887-7755-99F1B9265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1923" y="137136"/>
            <a:ext cx="6068272" cy="161947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2D0F17-6CED-E444-3F1C-4C9C5AD2F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47" y="3023937"/>
            <a:ext cx="11162505" cy="368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82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FFC7-1621-95EC-DBA1-82DC75F1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529388"/>
            <a:ext cx="10353762" cy="1860884"/>
          </a:xfrm>
        </p:spPr>
        <p:txBody>
          <a:bodyPr/>
          <a:lstStyle/>
          <a:p>
            <a:r>
              <a:rPr lang="en-GB" dirty="0"/>
              <a:t>“</a:t>
            </a:r>
            <a:r>
              <a:rPr lang="en-GB" sz="5400" b="1" u="sng" dirty="0"/>
              <a:t>Count of Customers by Churn</a:t>
            </a:r>
            <a:r>
              <a:rPr lang="en-GB" dirty="0"/>
              <a:t>”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F2606B-26FA-0127-792B-D550F25E67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1053" y="799787"/>
            <a:ext cx="7563906" cy="149563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99CE92-E265-00EA-4E3D-ABDE2C344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079" y="2278001"/>
            <a:ext cx="5811968" cy="456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683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862D-E8EA-A677-A55A-2356CDCC1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06" y="-88232"/>
            <a:ext cx="10353762" cy="1082843"/>
          </a:xfrm>
        </p:spPr>
        <p:txBody>
          <a:bodyPr>
            <a:normAutofit fontScale="90000"/>
          </a:bodyPr>
          <a:lstStyle/>
          <a:p>
            <a:r>
              <a:rPr lang="en-IN" sz="6000" b="1" u="sng" dirty="0"/>
              <a:t>"Percentage of Churned customers"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5E09D2-C573-041A-646B-D0AA13EC3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421" y="932919"/>
            <a:ext cx="7323221" cy="51105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A3DA43-858A-B91C-CB38-A0119310EC17}"/>
              </a:ext>
            </a:extLst>
          </p:cNvPr>
          <p:cNvSpPr txBox="1"/>
          <p:nvPr/>
        </p:nvSpPr>
        <p:spPr>
          <a:xfrm>
            <a:off x="1315451" y="6034658"/>
            <a:ext cx="81413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6"/>
              </a:spcBef>
              <a:spcAft>
                <a:spcPts val="871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system-ui"/>
              </a:rPr>
              <a:t>F</a:t>
            </a:r>
            <a:r>
              <a:rPr lang="en-GB" b="0" i="0" dirty="0">
                <a:solidFill>
                  <a:srgbClr val="FFFFFF"/>
                </a:solidFill>
                <a:effectLst/>
                <a:latin typeface="system-ui"/>
              </a:rPr>
              <a:t>rom the given pie chart we can conclude that 26.54% of our customers have churned out. Now let's explore the reason behind it.</a:t>
            </a:r>
          </a:p>
        </p:txBody>
      </p:sp>
    </p:spTree>
    <p:extLst>
      <p:ext uri="{BB962C8B-B14F-4D97-AF65-F5344CB8AC3E}">
        <p14:creationId xmlns:p14="http://schemas.microsoft.com/office/powerpoint/2010/main" val="3423454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D9C2-F14A-A97F-C19B-C147CF1D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4773" y="36626"/>
            <a:ext cx="6160773" cy="94648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IN" sz="6600" b="1" u="sng" dirty="0"/>
              <a:t>"Churn by Gender"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FB322D-CD55-34D6-D4C4-6FF075DEA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18" y="983111"/>
            <a:ext cx="4674387" cy="56562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840DD7-182C-EF8C-66FC-CCD710358360}"/>
              </a:ext>
            </a:extLst>
          </p:cNvPr>
          <p:cNvSpPr txBox="1"/>
          <p:nvPr/>
        </p:nvSpPr>
        <p:spPr>
          <a:xfrm>
            <a:off x="6096000" y="116473"/>
            <a:ext cx="6144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/>
              <a:t>"Count of Churn by </a:t>
            </a:r>
            <a:r>
              <a:rPr lang="en-IN" sz="3200" b="1" u="sng" dirty="0" err="1"/>
              <a:t>SeniorCitizen</a:t>
            </a:r>
            <a:r>
              <a:rPr lang="en-IN" sz="3200" b="1" u="sng" dirty="0"/>
              <a:t>"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8BACBB-89DE-4D7E-C267-DB0935175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95" y="701248"/>
            <a:ext cx="5294789" cy="592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75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CA7F8-6150-BF93-7A39-A63D21526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169443"/>
            <a:ext cx="10353762" cy="1011654"/>
          </a:xfrm>
        </p:spPr>
        <p:txBody>
          <a:bodyPr/>
          <a:lstStyle/>
          <a:p>
            <a:r>
              <a:rPr lang="en-GB" b="1" u="sng" dirty="0"/>
              <a:t>Churn by </a:t>
            </a:r>
            <a:r>
              <a:rPr lang="en-GB" b="1" u="sng" dirty="0" err="1"/>
              <a:t>SeniorCitizen</a:t>
            </a:r>
            <a:r>
              <a:rPr lang="en-GB" b="1" u="sng" dirty="0"/>
              <a:t>(stacked Bar chart)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BEA53-817E-0A1A-2B50-DBDC167BC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53453"/>
            <a:ext cx="10353762" cy="2013284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This chart shows the percentage of customers who churned, divided into Senior Citizens and Non-Senior Citizens.</a:t>
            </a:r>
          </a:p>
          <a:p>
            <a:r>
              <a:rPr lang="en-GB" dirty="0"/>
              <a:t>The stacked bars display both churn and non-churn percentages.</a:t>
            </a:r>
          </a:p>
          <a:p>
            <a:r>
              <a:rPr lang="en-GB" dirty="0"/>
              <a:t>Senior Citizens have a </a:t>
            </a:r>
            <a:r>
              <a:rPr lang="en-GB" b="1" dirty="0"/>
              <a:t>higher churn percentage</a:t>
            </a:r>
            <a:r>
              <a:rPr lang="en-GB" dirty="0"/>
              <a:t> compared to Non-Senior customers.</a:t>
            </a:r>
          </a:p>
          <a:p>
            <a:r>
              <a:rPr lang="en-GB" dirty="0"/>
              <a:t>This helps us understand how age group affects customer churn.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D0093-B983-6824-FBDD-DFB6C0D0D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70" y="2390273"/>
            <a:ext cx="5526506" cy="39142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DFC2CE-3000-1360-FCC8-7FEB7028C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156" y="2013284"/>
            <a:ext cx="4183173" cy="42912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15F92B-BFEC-C13A-9FD9-F4250BEFCC55}"/>
              </a:ext>
            </a:extLst>
          </p:cNvPr>
          <p:cNvSpPr txBox="1"/>
          <p:nvPr/>
        </p:nvSpPr>
        <p:spPr>
          <a:xfrm>
            <a:off x="481263" y="6211669"/>
            <a:ext cx="6112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6"/>
              </a:spcBef>
              <a:spcAft>
                <a:spcPts val="871"/>
              </a:spcAft>
              <a:buNone/>
            </a:pPr>
            <a:r>
              <a:rPr lang="en-GB" b="0" i="0" dirty="0">
                <a:solidFill>
                  <a:srgbClr val="FFFFFF"/>
                </a:solidFill>
                <a:effectLst/>
                <a:latin typeface="system-ui"/>
              </a:rPr>
              <a:t> comparative a greater percentage of people in senior citizen category have churned .</a:t>
            </a:r>
          </a:p>
        </p:txBody>
      </p:sp>
    </p:spTree>
    <p:extLst>
      <p:ext uri="{BB962C8B-B14F-4D97-AF65-F5344CB8AC3E}">
        <p14:creationId xmlns:p14="http://schemas.microsoft.com/office/powerpoint/2010/main" val="2723480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486C00-12D5-103E-1261-524E5B13B1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836" y="264696"/>
            <a:ext cx="10353675" cy="5510464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7B3E42-1F75-C028-FAF9-CCC7CA59A2CF}"/>
              </a:ext>
            </a:extLst>
          </p:cNvPr>
          <p:cNvSpPr txBox="1"/>
          <p:nvPr/>
        </p:nvSpPr>
        <p:spPr>
          <a:xfrm>
            <a:off x="1267326" y="5873134"/>
            <a:ext cx="6096000" cy="159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871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system-ui"/>
              </a:rPr>
              <a:t>P</a:t>
            </a:r>
            <a:r>
              <a:rPr lang="en-GB" b="0" i="0" dirty="0">
                <a:solidFill>
                  <a:srgbClr val="FFFFFF"/>
                </a:solidFill>
                <a:effectLst/>
                <a:latin typeface="system-ui"/>
              </a:rPr>
              <a:t>eople who have used our services for a long time have stayed and people who have used our services 1 or 2 months have churned.</a:t>
            </a:r>
          </a:p>
          <a:p>
            <a:pPr>
              <a:buNone/>
            </a:pPr>
            <a:br>
              <a:rPr lang="en-GB" b="0" i="0" dirty="0">
                <a:solidFill>
                  <a:srgbClr val="FFFFFF"/>
                </a:solidFill>
                <a:effectLst/>
                <a:latin typeface="menlo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003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5134ACC-BF68-17B4-6409-04B97747B9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3642" y="890337"/>
            <a:ext cx="3895965" cy="4900863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04E491-F4E0-ED64-9A51-4897EA70CC41}"/>
              </a:ext>
            </a:extLst>
          </p:cNvPr>
          <p:cNvSpPr txBox="1"/>
          <p:nvPr/>
        </p:nvSpPr>
        <p:spPr>
          <a:xfrm>
            <a:off x="2911643" y="10008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/>
              <a:t>"Count of Customers by Contract</a:t>
            </a:r>
            <a:r>
              <a:rPr lang="en-IN" b="1" u="sng" dirty="0"/>
              <a:t>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AC6E08-2786-064F-CCAE-3400AE001BE8}"/>
              </a:ext>
            </a:extLst>
          </p:cNvPr>
          <p:cNvSpPr txBox="1"/>
          <p:nvPr/>
        </p:nvSpPr>
        <p:spPr>
          <a:xfrm>
            <a:off x="834190" y="598539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6"/>
              </a:spcBef>
              <a:spcAft>
                <a:spcPts val="871"/>
              </a:spcAft>
              <a:buNone/>
            </a:pPr>
            <a:r>
              <a:rPr lang="en-GB" b="0" i="0" dirty="0">
                <a:solidFill>
                  <a:srgbClr val="FFFFFF"/>
                </a:solidFill>
                <a:effectLst/>
                <a:latin typeface="system-ui"/>
              </a:rPr>
              <a:t>People who have month-to-month contract are likely to churn then from those who have 1 or 2 years or contract.</a:t>
            </a:r>
          </a:p>
        </p:txBody>
      </p:sp>
    </p:spTree>
    <p:extLst>
      <p:ext uri="{BB962C8B-B14F-4D97-AF65-F5344CB8AC3E}">
        <p14:creationId xmlns:p14="http://schemas.microsoft.com/office/powerpoint/2010/main" val="3662973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D7B8F-8B04-AFBB-ED20-D7E66AB85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01054"/>
            <a:ext cx="10353762" cy="946483"/>
          </a:xfrm>
        </p:spPr>
        <p:txBody>
          <a:bodyPr>
            <a:normAutofit fontScale="90000"/>
          </a:bodyPr>
          <a:lstStyle/>
          <a:p>
            <a:r>
              <a:rPr lang="en-GB" b="1" u="sng" dirty="0"/>
              <a:t>Create subplots from the dataset where each plot would be a count plot</a:t>
            </a:r>
            <a:br>
              <a:rPr lang="en-GB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75BF14-FE1C-8515-6A5F-2DB502BEF2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800" y="1499937"/>
            <a:ext cx="6440905" cy="4644189"/>
          </a:xfrm>
        </p:spPr>
      </p:pic>
    </p:spTree>
    <p:extLst>
      <p:ext uri="{BB962C8B-B14F-4D97-AF65-F5344CB8AC3E}">
        <p14:creationId xmlns:p14="http://schemas.microsoft.com/office/powerpoint/2010/main" val="1345462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7E90BB-4E4C-D800-2C38-16A4621D37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48127"/>
            <a:ext cx="5744599" cy="676174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B301F9-CC9A-F668-0B0B-A51DFCD7F084}"/>
              </a:ext>
            </a:extLst>
          </p:cNvPr>
          <p:cNvSpPr txBox="1"/>
          <p:nvPr/>
        </p:nvSpPr>
        <p:spPr>
          <a:xfrm>
            <a:off x="0" y="1737427"/>
            <a:ext cx="58954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6"/>
              </a:spcBef>
              <a:spcAft>
                <a:spcPts val="871"/>
              </a:spcAft>
              <a:buNone/>
            </a:pPr>
            <a:r>
              <a:rPr lang="en-GB" b="0" i="0" dirty="0">
                <a:solidFill>
                  <a:srgbClr val="FFFFFF"/>
                </a:solidFill>
                <a:effectLst/>
                <a:latin typeface="system-ui"/>
              </a:rPr>
              <a:t>The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system-ui"/>
              </a:rPr>
              <a:t>countplots</a:t>
            </a:r>
            <a:r>
              <a:rPr lang="en-GB" b="0" i="0" dirty="0">
                <a:solidFill>
                  <a:srgbClr val="FFFFFF"/>
                </a:solidFill>
                <a:effectLst/>
                <a:latin typeface="system-ui"/>
              </a:rPr>
              <a:t> show that customers without extra services (like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system-ui"/>
              </a:rPr>
              <a:t>OnlineSecurity</a:t>
            </a:r>
            <a:r>
              <a:rPr lang="en-GB" b="0" i="0" dirty="0">
                <a:solidFill>
                  <a:srgbClr val="FFFFFF"/>
                </a:solidFill>
                <a:effectLst/>
                <a:latin typeface="system-ui"/>
              </a:rPr>
              <a:t>,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system-ui"/>
              </a:rPr>
              <a:t>TechSupport</a:t>
            </a:r>
            <a:r>
              <a:rPr lang="en-GB" b="0" i="0" dirty="0">
                <a:solidFill>
                  <a:srgbClr val="FFFFFF"/>
                </a:solidFill>
                <a:effectLst/>
                <a:latin typeface="system-ui"/>
              </a:rPr>
              <a:t>, and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system-ui"/>
              </a:rPr>
              <a:t>OnlineBackup</a:t>
            </a:r>
            <a:r>
              <a:rPr lang="en-GB" b="0" i="0" dirty="0">
                <a:solidFill>
                  <a:srgbClr val="FFFFFF"/>
                </a:solidFill>
                <a:effectLst/>
                <a:latin typeface="system-ui"/>
              </a:rPr>
              <a:t>) tend to have higher churn rates. Services such as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system-ui"/>
              </a:rPr>
              <a:t>InternetService</a:t>
            </a:r>
            <a:r>
              <a:rPr lang="en-GB" b="0" i="0" dirty="0">
                <a:solidFill>
                  <a:srgbClr val="FFFFFF"/>
                </a:solidFill>
                <a:effectLst/>
                <a:latin typeface="system-ui"/>
              </a:rPr>
              <a:t> (especially Fiber Optic) also have more churn compared to DSL. For most value-added services (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system-ui"/>
              </a:rPr>
              <a:t>StreamingTV</a:t>
            </a:r>
            <a:r>
              <a:rPr lang="en-GB" b="0" i="0" dirty="0">
                <a:solidFill>
                  <a:srgbClr val="FFFFFF"/>
                </a:solidFill>
                <a:effectLst/>
                <a:latin typeface="system-ui"/>
              </a:rPr>
              <a:t>,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system-ui"/>
              </a:rPr>
              <a:t>DeviceProtection</a:t>
            </a:r>
            <a:r>
              <a:rPr lang="en-GB" b="0" i="0" dirty="0">
                <a:solidFill>
                  <a:srgbClr val="FFFFFF"/>
                </a:solidFill>
                <a:effectLst/>
                <a:latin typeface="system-ui"/>
              </a:rPr>
              <a:t>, etc.), customers using these services generally churn less, indicating these add-ons improve retention. Overall, fewer services = higher churn.</a:t>
            </a:r>
          </a:p>
        </p:txBody>
      </p:sp>
    </p:spTree>
    <p:extLst>
      <p:ext uri="{BB962C8B-B14F-4D97-AF65-F5344CB8AC3E}">
        <p14:creationId xmlns:p14="http://schemas.microsoft.com/office/powerpoint/2010/main" val="4010753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4CA66-6CE7-D861-654F-7E931854E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190499"/>
            <a:ext cx="10353762" cy="1072815"/>
          </a:xfrm>
        </p:spPr>
        <p:txBody>
          <a:bodyPr/>
          <a:lstStyle/>
          <a:p>
            <a:r>
              <a:rPr lang="en-IN" b="1" u="sng" dirty="0"/>
              <a:t>"Churned Customers by </a:t>
            </a:r>
            <a:r>
              <a:rPr lang="en-IN" b="1" u="sng" dirty="0" err="1"/>
              <a:t>PaymentMethod</a:t>
            </a:r>
            <a:r>
              <a:rPr lang="en-IN" b="1" u="sng" dirty="0"/>
              <a:t>"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BF2F3C-E3F4-2619-17EC-8D60523CD6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34" y="794130"/>
            <a:ext cx="5446232" cy="238220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1F535F-79CE-8A4C-4B9C-C0DA1CDAA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769" y="649705"/>
            <a:ext cx="5297436" cy="638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918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3CE6-0F0E-4F14-E268-9EFEE8B4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5486400"/>
          </a:xfrm>
        </p:spPr>
        <p:txBody>
          <a:bodyPr>
            <a:normAutofit/>
          </a:bodyPr>
          <a:lstStyle/>
          <a:p>
            <a:r>
              <a:rPr lang="en-GB" sz="9600" u="sng" dirty="0"/>
              <a:t>THANK YOU !!!!!!</a:t>
            </a:r>
            <a:endParaRPr lang="en-IN" sz="9600" u="sng" dirty="0"/>
          </a:p>
        </p:txBody>
      </p:sp>
    </p:spTree>
    <p:extLst>
      <p:ext uri="{BB962C8B-B14F-4D97-AF65-F5344CB8AC3E}">
        <p14:creationId xmlns:p14="http://schemas.microsoft.com/office/powerpoint/2010/main" val="1979691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Title Lorem Ipsum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 marL="36900" lvl="0" indent="0">
              <a:buNone/>
            </a:pPr>
            <a:r>
              <a:rPr lang="en-US" sz="2400" dirty="0"/>
              <a:t>Dolor Sit Amet</a:t>
            </a:r>
          </a:p>
          <a:p>
            <a:pPr marL="36900" lvl="0" indent="0">
              <a:buNone/>
            </a:pPr>
            <a:r>
              <a:rPr lang="en-US" sz="2400" dirty="0"/>
              <a:t>Consectetuer Elit</a:t>
            </a:r>
          </a:p>
          <a:p>
            <a:pPr marL="36900" lvl="0" indent="0">
              <a:buNone/>
            </a:pPr>
            <a:r>
              <a:rPr lang="en-US" sz="2400" dirty="0"/>
              <a:t>Nunc Viverra</a:t>
            </a:r>
          </a:p>
          <a:p>
            <a:pPr marL="36900" lvl="0" indent="0">
              <a:buNone/>
            </a:pPr>
            <a:r>
              <a:rPr lang="en-US" sz="2400" dirty="0"/>
              <a:t>Pellentesque Habitant</a:t>
            </a:r>
          </a:p>
          <a:p>
            <a:pPr marL="36900" lvl="0" indent="0">
              <a:buNone/>
            </a:pPr>
            <a:r>
              <a:rPr lang="en-US" sz="2400" dirty="0"/>
              <a:t>Lorem Ipsum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{2C74EF14-3D47-40C1-8C73-EF3E5E3B5749}tf55705232_win32</Template>
  <TotalTime>199</TotalTime>
  <Words>404</Words>
  <Application>Microsoft Office PowerPoint</Application>
  <PresentationFormat>Widescreen</PresentationFormat>
  <Paragraphs>43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</vt:lpstr>
      <vt:lpstr>Goudy Old Style</vt:lpstr>
      <vt:lpstr>menlo</vt:lpstr>
      <vt:lpstr>system-ui</vt:lpstr>
      <vt:lpstr>Wingdings 2</vt:lpstr>
      <vt:lpstr>SlateVTI</vt:lpstr>
      <vt:lpstr>TELECOM CHURN  ANALYSIS</vt:lpstr>
      <vt:lpstr>EXPLORATORY DATA ANALYSIS</vt:lpstr>
      <vt:lpstr>IMPORTING LIBRARIES AND READING CSV FILE</vt:lpstr>
      <vt:lpstr>BASIC OVERVIEW OF DATASET</vt:lpstr>
      <vt:lpstr>PowerPoint Presentation</vt:lpstr>
      <vt:lpstr>Check the NULL values</vt:lpstr>
      <vt:lpstr>Check the statistical summary of the dataset</vt:lpstr>
      <vt:lpstr>Check the duplicate value of the dataset</vt:lpstr>
      <vt:lpstr>Converted 0 and 1 values of senior citizen to yes/no to make it easier to understand </vt:lpstr>
      <vt:lpstr>“Count of Customers by Churn”</vt:lpstr>
      <vt:lpstr>"Percentage of Churned customers"</vt:lpstr>
      <vt:lpstr>"Churn by Gender"</vt:lpstr>
      <vt:lpstr>Churn by SeniorCitizen(stacked Bar chart)</vt:lpstr>
      <vt:lpstr>PowerPoint Presentation</vt:lpstr>
      <vt:lpstr>PowerPoint Presentation</vt:lpstr>
      <vt:lpstr>Create subplots from the dataset where each plot would be a count plot </vt:lpstr>
      <vt:lpstr>PowerPoint Presentation</vt:lpstr>
      <vt:lpstr>"Churned Customers by PaymentMethod"</vt:lpstr>
      <vt:lpstr>THANK YOU !!!!!!</vt:lpstr>
      <vt:lpstr>Title Lorem Ipsum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</cp:revision>
  <dcterms:created xsi:type="dcterms:W3CDTF">2025-12-03T14:56:13Z</dcterms:created>
  <dcterms:modified xsi:type="dcterms:W3CDTF">2025-12-03T18:15:20Z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